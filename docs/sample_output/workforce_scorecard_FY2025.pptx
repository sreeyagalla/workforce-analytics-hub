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Workforce scorecard, FY2025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16 NYC agencies, public payroll records (NYC Open Data). Generated 2026-09-24.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B0B0B"/>
                </a:solidFill>
              </a:defRPr>
            </a:pPr>
            <a:r>
              <a:t>End-of-year headcount was 151,087 in FY2025 (-0.7% vs FY2024). Turnover was 11.3% (-0.2 pts vs FY2024). 4 of 16 agencies have at least one red scorecard metric.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Headline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FY2025 vs FY2024, all agencies in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Headcount (end of year)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151,087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-0.7% vs FY2024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Turnover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11.3%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-0.2 pts vs FY2024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Same-year new-hire attrition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16.2%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+0.5 pts vs FY2024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Overtime hours per 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229.0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+0.5% vs FY2024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828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Median base salary (annual)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$81,154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+1.3% vs FY2024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B0B0B"/>
                </a:solidFill>
              </a:defRPr>
            </a:pPr>
            <a:r>
              <a:t>Parks &amp; Recreation has the highest turnover at 39.1%, 3.5x the overall rate of 11.3%. Within Parks &amp; Recreation, turnover was 74.3% for per Hour employees vs 7.9% for per Annum employees.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Turnover trend vs national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In-scope turnover (separations / average headcount) and BLS JOLTS total separations rate for state &amp; local government excl. education, summed over July-June. Context, not a like-for-like comparison.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849318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Where turnover is concentrated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Parks &amp; Recreation has the highest turnover at 39.1%, 3.5x the overall rate of 11.3%. Within Parks &amp; Recreation, turnover was 74.3% for per Hour employees vs 7.9% for per Annum employees.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00200"/>
            <a:ext cx="846628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Agency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Status compares each agency with the all-in-scope value (red &gt;= 1.25x).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37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49531"/>
                <a:gridCol w="1149531"/>
                <a:gridCol w="1149531"/>
                <a:gridCol w="1149531"/>
                <a:gridCol w="1149531"/>
                <a:gridCol w="1149531"/>
                <a:gridCol w="1149531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Turnover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New-hire attrition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 hrs /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Police 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48,573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▲ Amber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 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17,649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■ Red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NYC Housing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Social Services (HRA)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11,083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Sanitation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9,947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Parks &amp; Recreation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■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■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■ Red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Children's Services (ACS)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▲ 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▲ 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&amp; Mental Hygiene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6,538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6,078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Environmental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5,893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Housing Preservation &amp;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Citywide Administrative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▲ 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Homeless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▲ 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▲ 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Technology &amp; 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▲ 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■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● Green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All in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151,087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Location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Turnover and overtime by work location (multi-site view).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669280" cy="229480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669280" cy="22948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Separations outlook, FY2026 (workforce planning)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Backtest FY2022-FY2025, each year predicted from earlier years only, 16 agencies. Mean absolute percentage error: last-year rate 23.7%, trailing 3-year rate 26.8%, naive same count as last year 24.0%. The projection uses the lowest (end-of-year headcount x last year's turnover rate); error of this size means it is a planning baseline, not a precise forecast.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7772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49134">
                <a:tc>
                  <a:txBody>
                    <a:bodyPr/>
                    <a:lstStyle/>
                    <a:p>
                      <a:r>
                        <a:t>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Headcount FY2025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separations FY2026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Police 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48,573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4,887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Parks &amp; Recreation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3,417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NYC Housing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1,407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Fire 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1,042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Social Services (HRA)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11,083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946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Sanitation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933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Children's Services (ACS)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915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785</a:t>
                      </a:r>
                    </a:p>
                  </a:txBody>
                  <a:tcPr/>
                </a:tc>
              </a:tr>
              <a:tr h="349134">
                <a:tc>
                  <a:txBody>
                    <a:bodyPr/>
                    <a:lstStyle/>
                    <a:p>
                      <a:r>
                        <a:t>Health &amp; Mental Hygiene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694</a:t>
                      </a:r>
                    </a:p>
                  </a:txBody>
                  <a:tcPr/>
                </a:tc>
              </a:tr>
              <a:tr h="349140">
                <a:tc>
                  <a:txBody>
                    <a:bodyPr/>
                    <a:lstStyle/>
                    <a:p>
                      <a:r>
                        <a:t>Environmental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9536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514E"/>
                </a:solidFill>
              </a:defRPr>
            </a:pPr>
            <a:r>
              <a:t>Method: end-of-year headcount x last year's turnover rate, chosen because it had the lowest backtest error. A planning baseline for whole agencies, not a prediction about any individual.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Definitions and data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Separations: Count of records with June 30 status CEASED and regular hours &gt; 0 in the fiscal year. Turnover rate: Separations / ((prior-FY end-of-year headcount + current-FY end-of-year headcount) / 2). Same-year new-hire attrition: Records that are both new hires and separations / new hires, same fiscal year.</a:t>
            </a:r>
            <a:br/>
            <a:br/>
            <a:r>
              <a:t>Separations exclude CEASED records with zero regular hours (residual payments to earlier leavers).</a:t>
            </a:r>
            <a:br/>
            <a:br/>
            <a:r>
              <a:t>Source does not distinguish voluntary from involuntary exits, and has no engagement, performance, or demographic data.</a:t>
            </a:r>
            <a:br/>
            <a:br/>
            <a:r>
              <a:t>Privacy: names are never downloaded; any cell with fewer than 10 employees is suppressed.</a:t>
            </a:r>
            <a:br/>
            <a:br/>
            <a:r>
              <a:t>Data: NYC Citywide Payroll Data (NYC Open Data); BLS JOLTS via the BLS public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